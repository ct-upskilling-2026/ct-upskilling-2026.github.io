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Looked</c:v>
                </c:pt>
              </c:strCache>
            </c:strRef>
          </c:tx>
          <c:spPr>
            <a:solidFill>
              <a:srgbClr val="9CC4BB"/>
            </a:solidFill>
          </c:spPr>
          <c:cat>
            <c:strRef>
              <c:f>Sheet1!$A$2:$A$7</c:f>
              <c:strCache>
                <c:ptCount val="6"/>
                <c:pt idx="0">
                  <c:v>Algebra II</c:v>
                </c:pt>
                <c:pt idx="1">
                  <c:v>Science</c:v>
                </c:pt>
                <c:pt idx="2">
                  <c:v>Elementary Math</c:v>
                </c:pt>
                <c:pt idx="3">
                  <c:v>Algebra I</c:v>
                </c:pt>
                <c:pt idx="4">
                  <c:v>Pre-Algebra</c:v>
                </c:pt>
                <c:pt idx="5">
                  <c:v>Elem. Reading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24</c:v>
                </c:pt>
                <c:pt idx="2">
                  <c:v>48</c:v>
                </c:pt>
                <c:pt idx="3">
                  <c:v>45</c:v>
                </c:pt>
                <c:pt idx="4">
                  <c:v>27</c:v>
                </c:pt>
                <c:pt idx="5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Booked</c:v>
                </c:pt>
              </c:strCache>
            </c:strRef>
          </c:tx>
          <c:spPr>
            <a:solidFill>
              <a:srgbClr val="245449"/>
            </a:solidFill>
          </c:spPr>
          <c:cat>
            <c:strRef>
              <c:f>Sheet1!$A$2:$A$7</c:f>
              <c:strCache>
                <c:ptCount val="6"/>
                <c:pt idx="0">
                  <c:v>Algebra II</c:v>
                </c:pt>
                <c:pt idx="1">
                  <c:v>Science</c:v>
                </c:pt>
                <c:pt idx="2">
                  <c:v>Elementary Math</c:v>
                </c:pt>
                <c:pt idx="3">
                  <c:v>Algebra I</c:v>
                </c:pt>
                <c:pt idx="4">
                  <c:v>Pre-Algebra</c:v>
                </c:pt>
                <c:pt idx="5">
                  <c:v>Elem. Reading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10</c:v>
                </c:pt>
                <c:pt idx="3">
                  <c:v>12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>
                  <a:solidFill>
                    <a:srgbClr val="5F5B54"/>
                  </a:solidFill>
                  <a:latin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5F5B54"/>
          </a:solidFill>
          <a:latin typeface="Avenir Nex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Parents</c:v>
                </c:pt>
              </c:strCache>
            </c:strRef>
          </c:tx>
          <c:spPr>
            <a:solidFill>
              <a:srgbClr val="2F6F62"/>
            </a:solidFill>
          </c:spPr>
          <c:cat>
            <c:strRef>
              <c:f>Sheet1!$A$2:$A$7</c:f>
              <c:strCache>
                <c:ptCount val="6"/>
                <c:pt idx="0">
                  <c:v>Booked</c:v>
                </c:pt>
                <c:pt idx="1">
                  <c:v>Started the form</c:v>
                </c:pt>
                <c:pt idx="2">
                  <c:v>Picked a time</c:v>
                </c:pt>
                <c:pt idx="3">
                  <c:v>Opened a tutor</c:v>
                </c:pt>
                <c:pt idx="4">
                  <c:v>Viewed the tutors</c:v>
                </c:pt>
                <c:pt idx="5">
                  <c:v>Visited home page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67</c:v>
                </c:pt>
                <c:pt idx="2">
                  <c:v>81</c:v>
                </c:pt>
                <c:pt idx="3">
                  <c:v>138</c:v>
                </c:pt>
                <c:pt idx="4">
                  <c:v>217</c:v>
                </c:pt>
                <c:pt idx="5">
                  <c:v>340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5F5B54"/>
                  </a:solidFill>
                  <a:latin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5F5B54"/>
          </a:solidFill>
          <a:latin typeface="Avenir Nex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Parents</c:v>
                </c:pt>
              </c:strCache>
            </c:strRef>
          </c:tx>
          <c:spPr>
            <a:solidFill>
              <a:srgbClr val="F2A65A"/>
            </a:solidFill>
          </c:spPr>
          <c:cat>
            <c:strRef>
              <c:f>Sheet1!$A$2:$A$5</c:f>
              <c:strCache>
                <c:ptCount val="4"/>
                <c:pt idx="0">
                  <c:v>Typed it in</c:v>
                </c:pt>
                <c:pt idx="1">
                  <c:v>Flyer</c:v>
                </c:pt>
                <c:pt idx="2">
                  <c:v>Word of mouth</c:v>
                </c:pt>
                <c:pt idx="3">
                  <c:v>Facebook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58</c:v>
                </c:pt>
                <c:pt idx="2">
                  <c:v>81</c:v>
                </c:pt>
                <c:pt idx="3">
                  <c:v>158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>
                  <a:solidFill>
                    <a:srgbClr val="5F5B54"/>
                  </a:solidFill>
                  <a:latin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5F5B54"/>
          </a:solidFill>
          <a:latin typeface="Avenir Nex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listening check, not a status report — pause here and let Dana confirm each line matches what she asked for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screenshots from the real site at https://ct-upskilling-2026.github.io, shown at phone width because that is how most parents will actually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'the slot closes automatically' — that single behavior is what eliminates the double-booking risk she has today with the Google Sheet and her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simulated demo numbers from two weeks of test traffic (340 visitors), not real customers — the measurement is proven and ready to read real traffic once the site is promoted. Reiterate verbally that this is a recommendation: Dana was asked twice what she wanted to know about visitors and both times described booking-form fields instead, which is exactly why this slide is framed as 'here is what I'd suggest'.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and warm that sample tutors were used because real tutor details were never provided — this is not a gap in the work, it is the one open input still needed. Frame phase 2 as sequenced, not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F6F62"/>
                </a:solidFill>
                <a:latin typeface="Avenir Next"/>
              </a:rPr>
              <a:t>What I heard from you</a:t>
            </a:r>
          </a:p>
        </p:txBody>
      </p:sp>
      <p:sp>
        <p:nvSpPr>
          <p:cNvPr id="3" name="Oval 2"/>
          <p:cNvSpPr/>
          <p:nvPr/>
        </p:nvSpPr>
        <p:spPr>
          <a:xfrm>
            <a:off x="658368" y="1463040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Right now everything runs through your phone and a Google Sheet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249424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26771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You want a simple site: a home page, a page to meet the tutors, and a way to book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035808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5409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Each tutor should show their photo, subjects, grade levels, rate, and real availability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22192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8404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Booking should just ask for the parent's name and email, and the student's name, grade, and subject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608576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62686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The calendar has to show each tutor's actual free times — not a generic 9-to-5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394960"/>
            <a:ext cx="347472" cy="347472"/>
          </a:xfrm>
          <a:prstGeom prst="ellipse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54132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B2B2B"/>
                </a:solidFill>
                <a:latin typeface="Avenir Next"/>
              </a:rPr>
              <a:t>It needs to feel clean and friendly on a phone — not dark, not corporate, not a big test-prep 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F6F62"/>
                </a:solidFill>
                <a:latin typeface="Avenir Next"/>
              </a:rPr>
              <a:t>Your website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29868" y="1229868"/>
            <a:ext cx="2295144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298448"/>
            <a:ext cx="2157984" cy="4315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15584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5B54"/>
                </a:solidFill>
                <a:latin typeface="Avenir Next"/>
              </a:rPr>
              <a:t>Home — a warm welcome and a clear next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6" y="1229868"/>
            <a:ext cx="2295144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tu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298448"/>
            <a:ext cx="2157984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07408" y="5815584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5B54"/>
                </a:solidFill>
                <a:latin typeface="Avenir Next"/>
              </a:rPr>
              <a:t>Meet the tutors — photo, subjects, rate, and open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73084" y="1229868"/>
            <a:ext cx="2295144" cy="4453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1298448"/>
            <a:ext cx="2157984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9016" y="5815584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5B54"/>
                </a:solidFill>
                <a:latin typeface="Avenir Next"/>
              </a:rPr>
              <a:t>Book a session — one short form, done in about a minute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F6F62"/>
                </a:solidFill>
                <a:latin typeface="Avenir Next"/>
              </a:rPr>
              <a:t>How a parent books</a:t>
            </a:r>
          </a:p>
        </p:txBody>
      </p:sp>
      <p:sp>
        <p:nvSpPr>
          <p:cNvPr id="3" name="Oval 2"/>
          <p:cNvSpPr/>
          <p:nvPr/>
        </p:nvSpPr>
        <p:spPr>
          <a:xfrm>
            <a:off x="658368" y="1417320"/>
            <a:ext cx="475488" cy="475488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3A2A14"/>
                </a:solidFill>
                <a:latin typeface="Avenir Nex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1399032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B2B2B"/>
                </a:solidFill>
                <a:latin typeface="Avenir Next"/>
              </a:rPr>
              <a:t>Pick a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746504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5F5B54"/>
                </a:solidFill>
                <a:latin typeface="Avenir Next"/>
              </a:rPr>
              <a:t>See their subjects, rate, and photo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386584"/>
            <a:ext cx="475488" cy="475488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3A2A14"/>
                </a:solidFill>
                <a:latin typeface="Avenir Nex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368296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B2B2B"/>
                </a:solidFill>
                <a:latin typeface="Avenir Next"/>
              </a:rPr>
              <a:t>Pick an open time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2715768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5F5B54"/>
                </a:solidFill>
                <a:latin typeface="Avenir Next"/>
              </a:rPr>
              <a:t>Only real, available times are ever shown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355848"/>
            <a:ext cx="475488" cy="475488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3A2A14"/>
                </a:solidFill>
                <a:latin typeface="Avenir Nex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3337560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B2B2B"/>
                </a:solidFill>
                <a:latin typeface="Avenir Next"/>
              </a:rPr>
              <a:t>Fill in one short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685032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5F5B54"/>
                </a:solidFill>
                <a:latin typeface="Avenir Next"/>
              </a:rPr>
              <a:t>Parent and student details — nothing more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325112"/>
            <a:ext cx="475488" cy="475488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3A2A14"/>
                </a:solidFill>
                <a:latin typeface="Avenir Nex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4306824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B2B2B"/>
                </a:solidFill>
                <a:latin typeface="Avenir Next"/>
              </a:rPr>
              <a:t>Get an instant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4654296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5F5B54"/>
                </a:solidFill>
                <a:latin typeface="Avenir Next"/>
              </a:rPr>
              <a:t>That slot closes automatically, so nobody double-books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541264"/>
            <a:ext cx="6720840" cy="749808"/>
          </a:xfrm>
          <a:prstGeom prst="roundRect">
            <a:avLst>
              <a:gd name="adj" fmla="val 14000"/>
            </a:avLst>
          </a:prstGeom>
          <a:solidFill>
            <a:srgbClr val="EFF5F3"/>
          </a:solidFill>
          <a:ln w="12700">
            <a:solidFill>
              <a:srgbClr val="CF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5742432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45449"/>
                </a:solidFill>
                <a:latin typeface="Avenir Next"/>
              </a:rPr>
              <a:t>Start to finish: about a minute. No phone tag.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03020"/>
            <a:ext cx="128016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1371600"/>
            <a:ext cx="1143000" cy="2286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89720" y="3909059"/>
            <a:ext cx="128016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onfir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3977639"/>
            <a:ext cx="1143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F6F62"/>
                </a:solidFill>
                <a:latin typeface="Avenir Next"/>
              </a:rPr>
              <a:t>What you can now see about your visitors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F5B54"/>
                </a:solidFill>
                <a:latin typeface="Avenir Next"/>
              </a:rPr>
              <a:t>A suggestion from me: here are the four things I'd watch, and what each one is worth to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Avenir Next"/>
              </a:rPr>
              <a:t>44 parents came looking for Algebra II help. Only 4 could book. 10 found no open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56231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B54"/>
                </a:solidFill>
                <a:latin typeface="Avenir Next"/>
              </a:rPr>
              <a:t>One tutor covers Algebra II with 2 hours a week. Compare Elementary Reading, which books at 41% because that tutor has hours to spare.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2395728"/>
          <a:ext cx="653796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22860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Avenir Next"/>
              </a:rPr>
              <a:t>Looked vs. booked, by subject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60920" y="2395728"/>
          <a:ext cx="4279392" cy="193852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60920" y="22860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Avenir Next"/>
              </a:rPr>
              <a:t>From visit to booking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60920" y="4572000"/>
          <a:ext cx="4279392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60920" y="44439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B2B"/>
                </a:solidFill>
                <a:latin typeface="Avenir Next"/>
              </a:rPr>
              <a:t>How parents found you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6035040"/>
            <a:ext cx="4279392" cy="566928"/>
          </a:xfrm>
          <a:prstGeom prst="roundRect">
            <a:avLst>
              <a:gd name="adj" fmla="val 16000"/>
            </a:avLst>
          </a:prstGeom>
          <a:solidFill>
            <a:srgbClr val="EFF5F3"/>
          </a:solidFill>
          <a:ln w="12700">
            <a:solidFill>
              <a:srgbClr val="CF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43800" y="6035040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45449"/>
                </a:solidFill>
                <a:latin typeface="Avenir Next"/>
              </a:rPr>
              <a:t>69% of parents visited on a phone (233 of 340)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F6F62"/>
                </a:solidFill>
                <a:latin typeface="Avenir Next"/>
              </a:rPr>
              <a:t>What I need from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25880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F6F62"/>
                </a:solidFill>
                <a:latin typeface="Avenir Next"/>
              </a:rPr>
              <a:t>To replace the sample tutors</a:t>
            </a:r>
          </a:p>
        </p:txBody>
      </p:sp>
      <p:sp>
        <p:nvSpPr>
          <p:cNvPr id="5" name="Oval 4"/>
          <p:cNvSpPr/>
          <p:nvPr/>
        </p:nvSpPr>
        <p:spPr>
          <a:xfrm>
            <a:off x="896112" y="2240279"/>
            <a:ext cx="146304" cy="14630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21284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Real names, photos, subjects, and grade levels for your 6 tutors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3154679"/>
            <a:ext cx="146304" cy="14630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12724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Each tutor's hourly rate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4069080"/>
            <a:ext cx="146304" cy="14630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04164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Each tutor's real weekly availability (the times shown now are placeholders)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4791456" cy="841248"/>
          </a:xfrm>
          <a:prstGeom prst="roundRect">
            <a:avLst>
              <a:gd name="adj" fmla="val 12000"/>
            </a:avLst>
          </a:prstGeom>
          <a:solidFill>
            <a:srgbClr val="F8F5E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78992" y="5065776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F5B54"/>
                </a:solidFill>
                <a:latin typeface="Avenir Next"/>
              </a:rPr>
              <a:t>All of this lives in a single file — once you send it over, it's a quick swap. No rebuilding the 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25880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F6F62"/>
                </a:solidFill>
                <a:latin typeface="Avenir Next"/>
              </a:rPr>
              <a:t>Coming next (not built yet)</a:t>
            </a:r>
          </a:p>
        </p:txBody>
      </p:sp>
      <p:sp>
        <p:nvSpPr>
          <p:cNvPr id="15" name="Oval 14"/>
          <p:cNvSpPr/>
          <p:nvPr/>
        </p:nvSpPr>
        <p:spPr>
          <a:xfrm>
            <a:off x="6565392" y="2240279"/>
            <a:ext cx="146304" cy="146304"/>
          </a:xfrm>
          <a:prstGeom prst="ellipse">
            <a:avLst/>
          </a:prstGeom>
          <a:solidFill>
            <a:srgbClr val="9CC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21284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A simple screen where you can add or remove tutors yourself</a:t>
            </a:r>
          </a:p>
        </p:txBody>
      </p:sp>
      <p:sp>
        <p:nvSpPr>
          <p:cNvPr id="17" name="Oval 16"/>
          <p:cNvSpPr/>
          <p:nvPr/>
        </p:nvSpPr>
        <p:spPr>
          <a:xfrm>
            <a:off x="6565392" y="3081527"/>
            <a:ext cx="146304" cy="146304"/>
          </a:xfrm>
          <a:prstGeom prst="ellipse">
            <a:avLst/>
          </a:prstGeom>
          <a:solidFill>
            <a:srgbClr val="9CC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054096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A shared calendar so bookings stay in sync across every device</a:t>
            </a:r>
          </a:p>
        </p:txBody>
      </p:sp>
      <p:sp>
        <p:nvSpPr>
          <p:cNvPr id="19" name="Oval 18"/>
          <p:cNvSpPr/>
          <p:nvPr/>
        </p:nvSpPr>
        <p:spPr>
          <a:xfrm>
            <a:off x="6565392" y="3922776"/>
            <a:ext cx="146304" cy="146304"/>
          </a:xfrm>
          <a:prstGeom prst="ellipse">
            <a:avLst/>
          </a:prstGeom>
          <a:solidFill>
            <a:srgbClr val="9CC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3895344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Automatic email confirmations to parents</a:t>
            </a:r>
          </a:p>
        </p:txBody>
      </p:sp>
      <p:sp>
        <p:nvSpPr>
          <p:cNvPr id="21" name="Oval 20"/>
          <p:cNvSpPr/>
          <p:nvPr/>
        </p:nvSpPr>
        <p:spPr>
          <a:xfrm>
            <a:off x="6565392" y="4764024"/>
            <a:ext cx="146304" cy="146304"/>
          </a:xfrm>
          <a:prstGeom prst="ellipse">
            <a:avLst/>
          </a:prstGeom>
          <a:solidFill>
            <a:srgbClr val="9CC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4736592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Avenir Next"/>
              </a:rPr>
              <a:t>Invoicing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